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Marketing Intelligence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D4FF"/>
                </a:solidFill>
              </a:defRPr>
            </a:pPr>
            <a:r>
              <a:t>Data Science, Machine Learning &amp; AI</a:t>
            </a:r>
            <a:br/>
            <a:r>
              <a:t>Simon Jokani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Projektübersicht &amp; Problemstellung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Multi-Agent Architektur (LangGraph)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RAG Pipeline - Retrieval-Augmented Generation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Prophet ML - Zeitreihen-Forecasting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Hybrid Search (Vektor + Lexikalisch)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Live Demo &amp; Ergebnisse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Problemstellung &amp; Lösung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Problem: Marketing-Analysten verbringen Stunden mit manuellen Datenabfragen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Datenbasis: Olist E-Commerce Dataset (100K+ Orders, 40K+ Reviews)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Lösung: KI-gestützter Analyst für natürlichsprachliche Fragen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Drei spezialisierte Agenten: Sales, Sentiment, Forecast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Automatische Intent-Erkennung und Agent-Routing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Systemarchitektur - Multi-Agent Pipeline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1645920" cy="822960"/>
          </a:xfrm>
          <a:prstGeom prst="roundRect">
            <a:avLst/>
          </a:prstGeom>
          <a:solidFill>
            <a:srgbClr val="2D3A4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User Query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1645920"/>
            <a:ext cx="1645920" cy="822960"/>
          </a:xfrm>
          <a:prstGeom prst="roundRect">
            <a:avLst/>
          </a:prstGeom>
          <a:solidFill>
            <a:srgbClr val="007ACC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Orchestrator</a:t>
            </a:r>
            <a:br/>
            <a:r>
              <a:t>(Intent Classification)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188720"/>
            <a:ext cx="1645920" cy="822960"/>
          </a:xfrm>
          <a:prstGeom prst="roundRect">
            <a:avLst/>
          </a:prstGeom>
          <a:solidFill>
            <a:srgbClr val="007ACC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Sales Agent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560320"/>
            <a:ext cx="1645920" cy="822960"/>
          </a:xfrm>
          <a:prstGeom prst="roundRect">
            <a:avLst/>
          </a:prstGeom>
          <a:solidFill>
            <a:srgbClr val="007ACC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Sentiment Agent</a:t>
            </a:r>
            <a:br/>
            <a:r>
              <a:t>(RAG)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3931920"/>
            <a:ext cx="1645920" cy="822960"/>
          </a:xfrm>
          <a:prstGeom prst="roundRect">
            <a:avLst/>
          </a:prstGeom>
          <a:solidFill>
            <a:srgbClr val="007ACC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Forecast Agent</a:t>
            </a:r>
            <a:br/>
            <a:r>
              <a:t>(Prophet ML)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560320"/>
            <a:ext cx="1645920" cy="822960"/>
          </a:xfrm>
          <a:prstGeom prst="roundRect">
            <a:avLst/>
          </a:prstGeom>
          <a:solidFill>
            <a:srgbClr val="007ACC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Synthesizer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0" y="2560320"/>
            <a:ext cx="1645920" cy="822960"/>
          </a:xfrm>
          <a:prstGeom prst="roundRect">
            <a:avLst/>
          </a:prstGeom>
          <a:solidFill>
            <a:srgbClr val="2D3A4A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FFFFFF"/>
                </a:solidFill>
              </a:defRPr>
            </a:pPr>
            <a:r>
              <a:t>Response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0292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AAAAAA"/>
                </a:solidFill>
              </a:defRPr>
            </a:pPr>
            <a:r>
              <a:t>LangGraph State Machine: Orchestriert spezialisierte Agenten basierend auf Intent-Klassifikation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LangGraph - Multi-Agent Orchestrierung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State Machine Pattern für Agent-Koordination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TypedDict für typsichere Zustandsverwaltung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Conditional Edges für dynamisches Routing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Parallele Agent-Ausführung möglich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71600"/>
            <a:ext cx="5760720" cy="5029200"/>
          </a:xfrm>
          <a:prstGeom prst="roundRect">
            <a:avLst/>
          </a:prstGeom>
          <a:solidFill>
            <a:srgbClr val="0D1117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554480"/>
            <a:ext cx="5394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DCFE"/>
                </a:solidFill>
                <a:latin typeface="Consolas"/>
              </a:defRPr>
            </a:pPr>
            <a:r>
              <a:t># LangGraph State Machine</a:t>
            </a:r>
            <a:br/>
            <a:r>
              <a:t>class AgentState(TypedDict):</a:t>
            </a:r>
            <a:br/>
            <a:r>
              <a:t>    query: str</a:t>
            </a:r>
            <a:br/>
            <a:r>
              <a:t>    intent: str</a:t>
            </a:r>
            <a:br/>
            <a:r>
              <a:t>    agent_outputs: Dict</a:t>
            </a:r>
            <a:br/>
            <a:r>
              <a:t>    final_response: str</a:t>
            </a:r>
            <a:br/>
            <a:br/>
            <a:r>
              <a:t>graph = StateGraph(AgentState)</a:t>
            </a:r>
            <a:br/>
            <a:r>
              <a:t>graph.add_node("classify", classify_intent)</a:t>
            </a:r>
            <a:br/>
            <a:r>
              <a:t>graph.add_node("sales", sales_agent)</a:t>
            </a:r>
            <a:br/>
            <a:r>
              <a:t>graph.add_node("sentiment", sentiment_agent)</a:t>
            </a:r>
            <a:br/>
            <a:r>
              <a:t>graph.add_node("forecast", forecast_agent)</a:t>
            </a:r>
            <a:br/>
            <a:r>
              <a:t>graph.add_conditional_edges(</a:t>
            </a:r>
            <a:br/>
            <a:r>
              <a:t>    "classify",</a:t>
            </a:r>
            <a:br/>
            <a:r>
              <a:t>    route_to_agent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RAG - Retrieval-Augmented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Embedding Model: sentence-transformers/MiniLM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Vektor-Datenbank: Qdrant Cloud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40K+ Reviews als Wissensbasis indexiert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Semantische Suche für relevante Kontexte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LLM generiert Antwort basierend auf Retrieval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71600"/>
            <a:ext cx="5760720" cy="5029200"/>
          </a:xfrm>
          <a:prstGeom prst="roundRect">
            <a:avLst/>
          </a:prstGeom>
          <a:solidFill>
            <a:srgbClr val="0D1117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554480"/>
            <a:ext cx="5394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DCFE"/>
                </a:solidFill>
                <a:latin typeface="Consolas"/>
              </a:defRPr>
            </a:pPr>
            <a:r>
              <a:t># RAG Pipeline</a:t>
            </a:r>
            <a:br/>
            <a:r>
              <a:t>embeddings = SentenceTransformer(</a:t>
            </a:r>
            <a:br/>
            <a:r>
              <a:t>    'all-MiniLM-L6-v2'</a:t>
            </a:r>
            <a:br/>
            <a:r>
              <a:t>)</a:t>
            </a:r>
            <a:br/>
            <a:br/>
            <a:r>
              <a:t># Semantic search</a:t>
            </a:r>
            <a:br/>
            <a:r>
              <a:t>results = qdrant_client.search(</a:t>
            </a:r>
            <a:br/>
            <a:r>
              <a:t>    collection="reviews",</a:t>
            </a:r>
            <a:br/>
            <a:r>
              <a:t>    query_vector=embeddings.encode(query),</a:t>
            </a:r>
            <a:br/>
            <a:r>
              <a:t>    limit=10</a:t>
            </a:r>
            <a:br/>
            <a:r>
              <a:t>)</a:t>
            </a:r>
            <a:br/>
            <a:br/>
            <a:r>
              <a:t># Generate with context</a:t>
            </a:r>
            <a:br/>
            <a:r>
              <a:t>response = llm.generate(</a:t>
            </a:r>
            <a:br/>
            <a:r>
              <a:t>    context=results,</a:t>
            </a:r>
            <a:br/>
            <a:r>
              <a:t>    query=user_query</a:t>
            </a:r>
            <a:br/>
            <a: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Hybrid Search - Vektor + Lexikalisch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Kombination aus semantischer und keyword-basierter Suche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Vektor-Suche: Findet semantisch ähnliche Inhalte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BM25 Lexikalische Suche: Exakte Keyword-Matches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Reciprocal Rank Fusion für Score-Kombination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Bessere Recall als reine Vektor-Suche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71600"/>
            <a:ext cx="5760720" cy="5029200"/>
          </a:xfrm>
          <a:prstGeom prst="roundRect">
            <a:avLst/>
          </a:prstGeom>
          <a:solidFill>
            <a:srgbClr val="0D1117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554480"/>
            <a:ext cx="5394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DCFE"/>
                </a:solidFill>
                <a:latin typeface="Consolas"/>
              </a:defRPr>
            </a:pPr>
            <a:r>
              <a:t># Hybrid Search</a:t>
            </a:r>
            <a:br/>
            <a:r>
              <a:t>def hybrid_search(query, k=10):</a:t>
            </a:r>
            <a:br/>
            <a:r>
              <a:t>    # Vector search</a:t>
            </a:r>
            <a:br/>
            <a:r>
              <a:t>    vec_results = vector_search(</a:t>
            </a:r>
            <a:br/>
            <a:r>
              <a:t>        query, k=k*2</a:t>
            </a:r>
            <a:br/>
            <a:r>
              <a:t>    )</a:t>
            </a:r>
            <a:br/>
            <a:br/>
            <a:r>
              <a:t>    # Lexical BM25 search</a:t>
            </a:r>
            <a:br/>
            <a:r>
              <a:t>    lex_results = bm25_search(</a:t>
            </a:r>
            <a:br/>
            <a:r>
              <a:t>        query, k=k*2</a:t>
            </a:r>
            <a:br/>
            <a:r>
              <a:t>    )</a:t>
            </a:r>
            <a:br/>
            <a:br/>
            <a:r>
              <a:t>    # Reciprocal Rank Fusion</a:t>
            </a:r>
            <a:br/>
            <a:r>
              <a:t>    return rrf_combine(</a:t>
            </a:r>
            <a:br/>
            <a:r>
              <a:t>        vec_results,</a:t>
            </a:r>
            <a:br/>
            <a:r>
              <a:t>        lex_results,</a:t>
            </a:r>
            <a:br/>
            <a:r>
              <a:t>        k=k</a:t>
            </a:r>
            <a:br/>
            <a:r>
              <a:t>    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Prophet ML - Zeitreihen-Forecasting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Facebook Prophet für Revenue-Prognosen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Automatische Trend- und Saisonalitätserkennung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Log-Transformation für stabile Vorhersagen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8-Wochen Forecast mit Konfidenzintervall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Handling von Feiertagen und Anomalien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371600"/>
            <a:ext cx="5760720" cy="5029200"/>
          </a:xfrm>
          <a:prstGeom prst="roundRect">
            <a:avLst/>
          </a:prstGeom>
          <a:solidFill>
            <a:srgbClr val="0D1117"/>
          </a:solidFill>
          <a:ln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0" y="1554480"/>
            <a:ext cx="53949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CDCFE"/>
                </a:solidFill>
                <a:latin typeface="Consolas"/>
              </a:defRPr>
            </a:pPr>
            <a:r>
              <a:t># Prophet Forecasting</a:t>
            </a:r>
            <a:br/>
            <a:r>
              <a:t>from prophet import Prophet</a:t>
            </a:r>
            <a:br/>
            <a:br/>
            <a:r>
              <a:t># Prepare data</a:t>
            </a:r>
            <a:br/>
            <a:r>
              <a:t>df = pd.DataFrame({</a:t>
            </a:r>
            <a:br/>
            <a:r>
              <a:t>    'ds': dates,</a:t>
            </a:r>
            <a:br/>
            <a:r>
              <a:t>    'y': np.log1p(revenue)  # Log transform</a:t>
            </a:r>
            <a:br/>
            <a:r>
              <a:t>})</a:t>
            </a:r>
            <a:br/>
            <a:br/>
            <a:r>
              <a:t># Fit model</a:t>
            </a:r>
            <a:br/>
            <a:r>
              <a:t>model = Prophet(</a:t>
            </a:r>
            <a:br/>
            <a:r>
              <a:t>    yearly_seasonality=True,</a:t>
            </a:r>
            <a:br/>
            <a:r>
              <a:t>    weekly_seasonality=True</a:t>
            </a:r>
            <a:br/>
            <a:r>
              <a:t>)</a:t>
            </a:r>
            <a:br/>
            <a:r>
              <a:t>model.fit(df)</a:t>
            </a:r>
            <a:br/>
            <a:br/>
            <a:r>
              <a:t># Predict</a:t>
            </a:r>
            <a:br/>
            <a:r>
              <a:t>future = model.make_future_dataframe(</a:t>
            </a:r>
            <a:br/>
            <a:r>
              <a:t>    periods=8, freq='W'</a:t>
            </a:r>
            <a:br/>
            <a:r>
              <a:t>)</a:t>
            </a:r>
            <a:br/>
            <a:r>
              <a:t>forecast = model.predict(future)</a:t>
            </a:r>
            <a:br/>
            <a:r>
              <a:t>forecast['yhat'] = np.expm1(forecast['yhat'])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Technologie-Stack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LLMs: xAI Grok, Groq (Llama), AWS Bedrock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Embeddings: sentence-transformers MiniLM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Vector DB: Qdrant Cloud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ML: Prophet, scikit-learn, PyTorch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Orchestration: LangGraph, LangChain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Monitoring: Langfuse (Tracing &amp; Analytics)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Backend: FastAPI, Uvicorn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Ergebnisse &amp;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Automatische Intent-Klassifikation: &gt;95% Accuracy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RAG-basierte Sentiment-Analyse auf 40K Reviews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Prophet Forecast: +9% Wachstumsprognose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Antwortzeit: ~3-5 Sekunden pro Query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Deployed auf AWS EC2 (weltweit erreichbar)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Zusammenfassung &amp; Learnings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Multi-Agent Systeme ermöglichen spezialisierte KI-Lösungen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RAG verbessert LLM-Antworten mit domänenspezifischem Wissen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Hybrid Search kombiniert Stärken beider Ansätze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Prophet liefert interpretierbare ML-Forecasts</a:t>
            </a:r>
          </a:p>
          <a:p>
            <a:pPr>
              <a:spcBef>
                <a:spcPts val="1200"/>
              </a:spcBef>
              <a:defRPr sz="2400">
                <a:solidFill>
                  <a:srgbClr val="FFFFFF"/>
                </a:solidFill>
              </a:defRPr>
            </a:pPr>
            <a:r>
              <a:t>• LangGraph vereinfacht komplexe Agent-Workflows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Fragen?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00D4FF"/>
                </a:solidFill>
              </a:defRPr>
            </a:pPr>
            <a:r>
              <a:t>Live Demo: http://3.121.239.209:8501</a:t>
            </a:r>
            <a:br/>
            <a:r>
              <a:t>GitHub: github.com/SimonOnChain/Marketing-Intelligence-Agent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